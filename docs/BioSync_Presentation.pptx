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82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1157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8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he image is a plain, solid, navy blue background.&#10;&#10;AI-generated content may be incorrect.">
            <a:extLst>
              <a:ext uri="{FF2B5EF4-FFF2-40B4-BE49-F238E27FC236}">
                <a16:creationId xmlns:a16="http://schemas.microsoft.com/office/drawing/2014/main" id="{9A075C3A-3AC2-80EE-47A1-EC09BA59D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429" y="4188894"/>
            <a:ext cx="3487214" cy="579170"/>
          </a:xfrm>
          <a:prstGeom prst="rect">
            <a:avLst/>
          </a:prstGeom>
        </p:spPr>
      </p:pic>
      <p:pic>
        <p:nvPicPr>
          <p:cNvPr id="41" name="Picture 40" descr="The image is a plain, solid, navy blue background.&#10;&#10;AI-generated content may be incorrect.">
            <a:extLst>
              <a:ext uri="{FF2B5EF4-FFF2-40B4-BE49-F238E27FC236}">
                <a16:creationId xmlns:a16="http://schemas.microsoft.com/office/drawing/2014/main" id="{4861656B-2FA8-37D1-C288-A48BCDCF6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429" y="3467164"/>
            <a:ext cx="3487214" cy="579170"/>
          </a:xfrm>
          <a:prstGeom prst="rect">
            <a:avLst/>
          </a:prstGeom>
        </p:spPr>
      </p:pic>
      <p:pic>
        <p:nvPicPr>
          <p:cNvPr id="38" name="Picture 37" descr="The image is a plain, solid, navy blue background.&#10;&#10;AI-generated content may be incorrect.">
            <a:extLst>
              <a:ext uri="{FF2B5EF4-FFF2-40B4-BE49-F238E27FC236}">
                <a16:creationId xmlns:a16="http://schemas.microsoft.com/office/drawing/2014/main" id="{B3C4FB9C-C522-F3FF-6661-772565F19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713" y="4188894"/>
            <a:ext cx="3487214" cy="57917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1300" y="-251460"/>
            <a:ext cx="3215640" cy="321564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033932" y="2259058"/>
            <a:ext cx="2851052" cy="539007"/>
          </a:xfrm>
          <a:prstGeom prst="rect">
            <a:avLst/>
          </a:prstGeom>
          <a:solidFill>
            <a:srgbClr val="006398"/>
          </a:solidFill>
          <a:ln w="12700">
            <a:solidFill>
              <a:srgbClr val="0063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133578" y="2181204"/>
            <a:ext cx="2651760" cy="6396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SOON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44658" y="286283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CBD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Health. All in One Place.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1817077" y="3366399"/>
            <a:ext cx="5486400" cy="0"/>
          </a:xfrm>
          <a:prstGeom prst="line">
            <a:avLst/>
          </a:prstGeom>
          <a:noFill/>
          <a:ln w="12700">
            <a:solidFill>
              <a:srgbClr val="00639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841248" y="3470566"/>
            <a:ext cx="3474720" cy="566921"/>
          </a:xfrm>
          <a:prstGeom prst="rect">
            <a:avLst/>
          </a:prstGeom>
          <a:solidFill>
            <a:srgbClr val="1C2D4F"/>
          </a:solidFill>
          <a:ln w="12700">
            <a:solidFill>
              <a:srgbClr val="1C2D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14400" y="3569207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Ayres</a:t>
            </a:r>
            <a:endParaRPr lang="en-US" sz="1000" dirty="0"/>
          </a:p>
          <a:p>
            <a:r>
              <a:rPr lang="en-US" sz="850" dirty="0">
                <a:solidFill>
                  <a:srgbClr val="6CBD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full-stack development across all major features — dashboard, caregiver portal, PDF extraction, notification system, clinical thresholds, and UI design.</a:t>
            </a:r>
          </a:p>
        </p:txBody>
      </p:sp>
      <p:sp>
        <p:nvSpPr>
          <p:cNvPr id="31" name="Text 28"/>
          <p:cNvSpPr/>
          <p:nvPr/>
        </p:nvSpPr>
        <p:spPr>
          <a:xfrm>
            <a:off x="4745116" y="3561969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Joshua Eckman</a:t>
            </a:r>
          </a:p>
          <a:p>
            <a:r>
              <a:rPr lang="en-US" sz="850" dirty="0">
                <a:solidFill>
                  <a:srgbClr val="6CBD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Built the initial Flask application structure and SQLite database schema. Implemented age/sex-based heart rate thresholds using CDC resting BPM ranges. Contributed to presentation materials.</a:t>
            </a:r>
          </a:p>
        </p:txBody>
      </p:sp>
      <p:sp>
        <p:nvSpPr>
          <p:cNvPr id="33" name="Text 30"/>
          <p:cNvSpPr/>
          <p:nvPr/>
        </p:nvSpPr>
        <p:spPr>
          <a:xfrm>
            <a:off x="914400" y="4272245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Myra Williams</a:t>
            </a:r>
            <a:endParaRPr lang="en-US" sz="1000" dirty="0"/>
          </a:p>
          <a:p>
            <a:r>
              <a:rPr lang="en-US" sz="850" dirty="0">
                <a:solidFill>
                  <a:srgbClr val="6CBD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live biometric readings feature allowing users to log real-time vitals directly from connected devices.</a:t>
            </a:r>
          </a:p>
        </p:txBody>
      </p:sp>
      <p:sp>
        <p:nvSpPr>
          <p:cNvPr id="35" name="Text 32"/>
          <p:cNvSpPr/>
          <p:nvPr/>
        </p:nvSpPr>
        <p:spPr>
          <a:xfrm>
            <a:off x="4751363" y="4165503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 Wilson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6CBD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helped build front-end and back-end development. Contributed to application workflow, product usability and presentation materials.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CBD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289 — Programming Capstone  |  Spring 2026  |  FTCC  |  Group 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41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188720"/>
          </a:xfrm>
          <a:prstGeom prst="rect">
            <a:avLst/>
          </a:prstGeom>
          <a:solidFill>
            <a:srgbClr val="04183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data is fragmented across dozens of apps, devices, and paper records.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26517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54864" cy="2606040"/>
          </a:xfrm>
          <a:prstGeom prst="rect">
            <a:avLst/>
          </a:prstGeom>
          <a:solidFill>
            <a:srgbClr val="B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41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624328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juggle separate apps for heart rate, blood pressure, glucose, and more — no single source of truth.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91840" y="2240280"/>
            <a:ext cx="26517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2240280"/>
            <a:ext cx="54864" cy="2606040"/>
          </a:xfrm>
          <a:prstGeom prst="rect">
            <a:avLst/>
          </a:prstGeom>
          <a:solidFill>
            <a:srgbClr val="B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2331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41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Clinical Context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29000" y="2624328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numbers mean nothing without clinical thresholds. Most apps just log data — they don't tell you if something is wrong.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26480" y="2240280"/>
            <a:ext cx="26517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2240280"/>
            <a:ext cx="54864" cy="2606040"/>
          </a:xfrm>
          <a:prstGeom prst="rect">
            <a:avLst/>
          </a:prstGeom>
          <a:solidFill>
            <a:srgbClr val="B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2331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41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Gap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63640" y="2624328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and family caregivers have no visibility into patient health between visits unless the patient manually shares it.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41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BioSync?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868680"/>
          </a:xfrm>
          <a:prstGeom prst="rect">
            <a:avLst/>
          </a:prstGeom>
          <a:solidFill>
            <a:srgbClr val="00639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secure workspace for biometric tracking, clinical document storage, health alerts, and caregiver access.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5176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864" cy="2971800"/>
          </a:xfrm>
          <a:prstGeom prst="rect">
            <a:avLst/>
          </a:prstGeom>
          <a:solidFill>
            <a:srgbClr val="0063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41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Patients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258568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readings, upload lab reports, view trends, and receive alerts when readings fall outside safe clinical ranges.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91840" y="1874520"/>
            <a:ext cx="265176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1874520"/>
            <a:ext cx="54864" cy="2971800"/>
          </a:xfrm>
          <a:prstGeom prst="rect">
            <a:avLst/>
          </a:prstGeom>
          <a:solidFill>
            <a:srgbClr val="0063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1965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41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 Caregivers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29000" y="2258568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linked patients from a dedicated portal. Receive alerts when a patient has a critical reading.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26480" y="1874520"/>
            <a:ext cx="265176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1874520"/>
            <a:ext cx="54864" cy="2971800"/>
          </a:xfrm>
          <a:prstGeom prst="rect">
            <a:avLst/>
          </a:prstGeom>
          <a:solidFill>
            <a:srgbClr val="0063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1965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41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Health-Conscious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63640" y="2258568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wellness goals, monitor multiple metrics over time, and share data with their care team.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41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Our Users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6517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651760" cy="640080"/>
          </a:xfrm>
          <a:prstGeom prst="rect">
            <a:avLst/>
          </a:prstGeom>
          <a:solidFill>
            <a:srgbClr val="0063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869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 Edwards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600200"/>
            <a:ext cx="24505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grad student juggling fitness trackers and health apps. Wants one place to see her full health picture without switching between five apps.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91840" y="868680"/>
            <a:ext cx="26517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868680"/>
            <a:ext cx="2651760" cy="640080"/>
          </a:xfrm>
          <a:prstGeom prst="rect">
            <a:avLst/>
          </a:prstGeom>
          <a:solidFill>
            <a:srgbClr val="1A6E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8869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Jason Spencer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1704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Caregiver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01568" y="1600200"/>
            <a:ext cx="24505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health nurse managing elderly patients between visits. Needs remote visibility into patient vitals and instant alerts when something is wrong.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26480" y="868680"/>
            <a:ext cx="26517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868680"/>
            <a:ext cx="2651760" cy="640080"/>
          </a:xfrm>
          <a:prstGeom prst="rect">
            <a:avLst/>
          </a:prstGeom>
          <a:solidFill>
            <a:srgbClr val="7A5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8869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Micah Davis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1704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36208" y="1600200"/>
            <a:ext cx="24505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 chronic illness across multiple specialists. Needs an app that tracks all his metrics and makes it easy to share records at appointments.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41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514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54864" cy="1828800"/>
          </a:xfrm>
          <a:prstGeom prst="rect">
            <a:avLst/>
          </a:prstGeom>
          <a:solidFill>
            <a:srgbClr val="0063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41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Biometric Dashboard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25272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live metric cards — Heart Rate, Blood Pressure, SpO2, Glucose, Temperature, and Weight — each with clinical status badges.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0" y="868680"/>
            <a:ext cx="2514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108960" y="868680"/>
            <a:ext cx="54864" cy="1828800"/>
          </a:xfrm>
          <a:prstGeom prst="rect">
            <a:avLst/>
          </a:prstGeom>
          <a:solidFill>
            <a:srgbClr val="0063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46120" y="9601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41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PDF Document Upload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46120" y="125272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clinical lab reports and BioSync automatically extracts biometric readings using pattern recognition.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0" y="868680"/>
            <a:ext cx="2514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760720" y="868680"/>
            <a:ext cx="54864" cy="1828800"/>
          </a:xfrm>
          <a:prstGeom prst="rect">
            <a:avLst/>
          </a:prstGeom>
          <a:solidFill>
            <a:srgbClr val="0063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97880" y="9601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41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Smart Notifications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125272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reading is checked against clinical thresholds. Patients and caregivers get instant alerts for anything that needs attention.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2514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54864" cy="1828800"/>
          </a:xfrm>
          <a:prstGeom prst="rect">
            <a:avLst/>
          </a:prstGeom>
          <a:solidFill>
            <a:srgbClr val="0063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41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Trends &amp; Charts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Chart.js visualizations with time range filters. Blood pressure shows as a dual-line systolic/diastolic chart.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108960" y="2834640"/>
            <a:ext cx="2514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108960" y="2834640"/>
            <a:ext cx="54864" cy="1828800"/>
          </a:xfrm>
          <a:prstGeom prst="rect">
            <a:avLst/>
          </a:prstGeom>
          <a:solidFill>
            <a:srgbClr val="0063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46120" y="29260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41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Caregiver Portal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46120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separate dashboard for caregivers. Link to patients via unique codes. View patient biometrics and receive patient-specific alerts.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60720" y="2834640"/>
            <a:ext cx="2514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760720" y="2834640"/>
            <a:ext cx="54864" cy="1828800"/>
          </a:xfrm>
          <a:prstGeom prst="rect">
            <a:avLst/>
          </a:prstGeom>
          <a:solidFill>
            <a:srgbClr val="0063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97880" y="29260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41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CSV Export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97880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biometric data per metric or as a monthly all-readings report to share with doctors.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18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68680" y="1005840"/>
            <a:ext cx="594360" cy="594360"/>
          </a:xfrm>
          <a:prstGeom prst="ellipse">
            <a:avLst/>
          </a:prstGeom>
          <a:solidFill>
            <a:srgbClr val="0063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005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737360"/>
            <a:ext cx="1600200" cy="2560320"/>
          </a:xfrm>
          <a:prstGeom prst="rect">
            <a:avLst/>
          </a:prstGeom>
          <a:solidFill>
            <a:srgbClr val="1C2D4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82880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84048" y="2176272"/>
            <a:ext cx="14813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CBD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or caregiver creates an account with full health profile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984248" y="1303020"/>
            <a:ext cx="201168" cy="0"/>
          </a:xfrm>
          <a:prstGeom prst="line">
            <a:avLst/>
          </a:prstGeom>
          <a:noFill/>
          <a:ln w="19050">
            <a:solidFill>
              <a:srgbClr val="0063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87752" y="1005840"/>
            <a:ext cx="594360" cy="594360"/>
          </a:xfrm>
          <a:prstGeom prst="ellipse">
            <a:avLst/>
          </a:prstGeom>
          <a:solidFill>
            <a:srgbClr val="0063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87752" y="1005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039112" y="1737360"/>
            <a:ext cx="1600200" cy="2560320"/>
          </a:xfrm>
          <a:prstGeom prst="rect">
            <a:avLst/>
          </a:prstGeom>
          <a:solidFill>
            <a:srgbClr val="1C2D4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03120" y="182880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Data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03120" y="2176272"/>
            <a:ext cx="14813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CBD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clinical PDFs or log readings manually from any device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703320" y="1303020"/>
            <a:ext cx="201168" cy="0"/>
          </a:xfrm>
          <a:prstGeom prst="line">
            <a:avLst/>
          </a:prstGeom>
          <a:noFill/>
          <a:ln w="19050">
            <a:solidFill>
              <a:srgbClr val="0063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06824" y="1005840"/>
            <a:ext cx="594360" cy="594360"/>
          </a:xfrm>
          <a:prstGeom prst="ellipse">
            <a:avLst/>
          </a:prstGeom>
          <a:solidFill>
            <a:srgbClr val="0063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06824" y="1005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58184" y="1737360"/>
            <a:ext cx="1600200" cy="2560320"/>
          </a:xfrm>
          <a:prstGeom prst="rect">
            <a:avLst/>
          </a:prstGeom>
          <a:solidFill>
            <a:srgbClr val="1C2D4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22192" y="182880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22192" y="2176272"/>
            <a:ext cx="14813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CBD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BioSync extracts biometrics and applies clinical thresholds automatically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422392" y="1303020"/>
            <a:ext cx="201168" cy="0"/>
          </a:xfrm>
          <a:prstGeom prst="line">
            <a:avLst/>
          </a:prstGeom>
          <a:noFill/>
          <a:ln w="19050">
            <a:solidFill>
              <a:srgbClr val="0063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25896" y="1005840"/>
            <a:ext cx="594360" cy="594360"/>
          </a:xfrm>
          <a:prstGeom prst="ellipse">
            <a:avLst/>
          </a:prstGeom>
          <a:solidFill>
            <a:srgbClr val="0063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25896" y="1005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77256" y="1737360"/>
            <a:ext cx="1600200" cy="2560320"/>
          </a:xfrm>
          <a:prstGeom prst="rect">
            <a:avLst/>
          </a:prstGeom>
          <a:solidFill>
            <a:srgbClr val="1C2D4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41264" y="182880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41264" y="2176272"/>
            <a:ext cx="14813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CBD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fire instantly for readings outside safe ranges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7141464" y="1303020"/>
            <a:ext cx="201168" cy="0"/>
          </a:xfrm>
          <a:prstGeom prst="line">
            <a:avLst/>
          </a:prstGeom>
          <a:noFill/>
          <a:ln w="19050">
            <a:solidFill>
              <a:srgbClr val="0063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744968" y="1005840"/>
            <a:ext cx="594360" cy="594360"/>
          </a:xfrm>
          <a:prstGeom prst="ellipse">
            <a:avLst/>
          </a:prstGeom>
          <a:solidFill>
            <a:srgbClr val="0063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44968" y="1005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196328" y="1737360"/>
            <a:ext cx="1600200" cy="2560320"/>
          </a:xfrm>
          <a:prstGeom prst="rect">
            <a:avLst/>
          </a:prstGeom>
          <a:solidFill>
            <a:srgbClr val="1C2D4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60336" y="182880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260336" y="2176272"/>
            <a:ext cx="14813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CBD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view trends. Caregivers monitor all linked patients from one hub.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41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Threshold Intelligence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reading is evaluated against evidence-based clinical guidelines — not arbitrary numbers.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32918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8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8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8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8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8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60–100 BPM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&gt;100 Tachycardia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&gt;150 BPM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&lt;40 or &gt;150 BPM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Pressure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&lt;120/80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 / Stage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2 (≥140/90)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Crisis (&gt;180/120)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91–94% Concerning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80–89% Seek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&lt;80% Cyanosis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70–108 mg/dL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120–180 Borderline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&gt;180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&lt;50 or &gt;315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95–99.1°F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99.3–100.4 Slight Fever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100.6–102.2 Fever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&gt;102.4 High Fever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thresholds are personalized using age and sex from CDC resting heart rate ranges.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18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1115568"/>
          </a:xfrm>
          <a:prstGeom prst="rect">
            <a:avLst/>
          </a:prstGeom>
          <a:solidFill>
            <a:srgbClr val="1C2D4F"/>
          </a:solidFill>
          <a:ln w="6350">
            <a:solidFill>
              <a:srgbClr val="00639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Password Security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6928" y="1344168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passwords hashed with PBKDF2-SHA256 + salt. Plain text passwords are never stored or logged.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960120"/>
            <a:ext cx="4023360" cy="1115568"/>
          </a:xfrm>
          <a:prstGeom prst="rect">
            <a:avLst/>
          </a:prstGeom>
          <a:solidFill>
            <a:srgbClr val="1C2D4F"/>
          </a:solidFill>
          <a:ln w="6350">
            <a:solidFill>
              <a:srgbClr val="00639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73168" y="105156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Session Security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73168" y="1344168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signed with Flask's SECRET_KEY. Only user_id is stored in the session cookie — nothing sensitive.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4023360" cy="1115568"/>
          </a:xfrm>
          <a:prstGeom prst="rect">
            <a:avLst/>
          </a:prstGeom>
          <a:solidFill>
            <a:srgbClr val="1C2D4F"/>
          </a:solidFill>
          <a:ln w="6350">
            <a:solidFill>
              <a:srgbClr val="00639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233172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Access Control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66928" y="2624328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login_required and caregiver_required decorators enforce route-level auth. Caregivers can only see patients they are explicitly linked to.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240280"/>
            <a:ext cx="4023360" cy="1115568"/>
          </a:xfrm>
          <a:prstGeom prst="rect">
            <a:avLst/>
          </a:prstGeom>
          <a:solidFill>
            <a:srgbClr val="1C2D4F"/>
          </a:solidFill>
          <a:ln w="6350">
            <a:solidFill>
              <a:srgbClr val="00639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73168" y="233172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HIPAA Alignment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73168" y="2624328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necessary access, audit trails via notification logs, role-based data access, and explicit patient consent via patient code linking.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4023360" cy="1115568"/>
          </a:xfrm>
          <a:prstGeom prst="rect">
            <a:avLst/>
          </a:prstGeom>
          <a:solidFill>
            <a:srgbClr val="1C2D4F"/>
          </a:solidFill>
          <a:ln w="6350">
            <a:solidFill>
              <a:srgbClr val="00639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361188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Patient Consent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6928" y="3904488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Caregivers cannot access any patient data without the patient generating and sharing a unique code — the patient controls the link.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520440"/>
            <a:ext cx="4023360" cy="1115568"/>
          </a:xfrm>
          <a:prstGeom prst="rect">
            <a:avLst/>
          </a:prstGeom>
          <a:solidFill>
            <a:srgbClr val="1C2D4F"/>
          </a:solidFill>
          <a:ln w="6350">
            <a:solidFill>
              <a:srgbClr val="00639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73168" y="361188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Data Ownership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73168" y="3904488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documents and readings are stored server-side and never shared with third parties. No ads. No data selling.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41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514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54864" cy="1828800"/>
          </a:xfrm>
          <a:prstGeom prst="rect">
            <a:avLst/>
          </a:prstGeom>
          <a:solidFill>
            <a:srgbClr val="7A5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41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4360" y="125272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 that connects directly to wearable devices via Bluetooth. Sync with Apple Health, Google Health Connect, and Samsung Health.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08960" y="868680"/>
            <a:ext cx="2514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108960" y="868680"/>
            <a:ext cx="54864" cy="1828800"/>
          </a:xfrm>
          <a:prstGeom prst="rect">
            <a:avLst/>
          </a:prstGeom>
          <a:solidFill>
            <a:srgbClr val="7A5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46120" y="9601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41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⌚  Device Integration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46120" y="125272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Bluetooth connectivity to COLMI R02 smart ring and Wellue pulse oximeter — readings flow straight into BioSync without manual entry.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868680"/>
            <a:ext cx="2514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760720" y="868680"/>
            <a:ext cx="54864" cy="1828800"/>
          </a:xfrm>
          <a:prstGeom prst="rect">
            <a:avLst/>
          </a:prstGeom>
          <a:solidFill>
            <a:srgbClr val="7A5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97880" y="9601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41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Password Reset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897880" y="125272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Email-based password recovery so users can regain access without admin intervention.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641348" y="2834640"/>
            <a:ext cx="2514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642520" y="2834640"/>
            <a:ext cx="54864" cy="1828800"/>
          </a:xfrm>
          <a:prstGeom prst="rect">
            <a:avLst/>
          </a:prstGeom>
          <a:solidFill>
            <a:srgbClr val="7A5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943100" y="2935107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41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Settings Page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805940" y="3163824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editing, notification preferences, and account management all in one place.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03420" y="2834640"/>
            <a:ext cx="2514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03420" y="2834640"/>
            <a:ext cx="54864" cy="1828800"/>
          </a:xfrm>
          <a:prstGeom prst="rect">
            <a:avLst/>
          </a:prstGeom>
          <a:solidFill>
            <a:srgbClr val="7A5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46910" y="2916819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41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 Deployment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22292" y="3081411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Render with PostgreSQL for production. QR code access for live demos and real-world use.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18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322" y="365760"/>
            <a:ext cx="2397369" cy="2397369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57200" y="2331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24" name="Text 21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CBD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see BioSync in action.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977</Words>
  <Application>Microsoft Office PowerPoint</Application>
  <PresentationFormat>On-screen Show (16:9)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BioSync — CSC 289 Capstone</dc:title>
  <dc:subject>PptxGenJS Presentation</dc:subject>
  <dc:creator>PptxGenJS</dc:creator>
  <cp:lastModifiedBy>Sarah Ayres</cp:lastModifiedBy>
  <cp:revision>3</cp:revision>
  <dcterms:created xsi:type="dcterms:W3CDTF">2026-05-05T09:39:47Z</dcterms:created>
  <dcterms:modified xsi:type="dcterms:W3CDTF">2026-05-06T16:31:00Z</dcterms:modified>
</cp:coreProperties>
</file>